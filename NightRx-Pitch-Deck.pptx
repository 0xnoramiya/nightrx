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0" y="1371600"/>
            <a:ext cx="731520" cy="7315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0" y="14173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NightRx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9CAA"/>
                </a:solidFill>
                <a:latin typeface="Calibri"/>
              </a:defRPr>
            </a:pPr>
            <a:r>
              <a:t>Privacy-Preserving Healthcare Credentials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5B4FC"/>
                </a:solidFill>
                <a:latin typeface="Calibri"/>
              </a:defRPr>
            </a:pPr>
            <a:r>
              <a:t>Zero-knowledge proofs on Midnight blockchain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943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5B4FC"/>
                </a:solidFill>
                <a:latin typeface="Calibri"/>
              </a:defRPr>
            </a:pPr>
            <a:r>
              <a:t>Midnight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943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0B981"/>
                </a:solidFill>
                <a:latin typeface="Calibri"/>
              </a:defRPr>
            </a:pPr>
            <a:r>
              <a:t>Healthcare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Getting medication shouldn't</a:t>
            </a:r>
            <a:br/>
            <a:r>
              <a:t>require exposing your diagnosis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26080"/>
            <a:ext cx="3840480" cy="32004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Calibri"/>
              </a:defRPr>
            </a:pPr>
            <a:r>
              <a:t>Stigma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HIV, mental health, addiction patients avoid</a:t>
            </a:r>
            <a:br/>
            <a:r>
              <a:t>treatment because picking up medication</a:t>
            </a:r>
            <a:br/>
            <a:r>
              <a:t>reveals their condition to pharmacists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926080"/>
            <a:ext cx="3840480" cy="32004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  <a:latin typeface="Calibri"/>
              </a:defRPr>
            </a:pPr>
            <a:r>
              <a:t>Data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8404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Prescriptions pass through pharmacists,</a:t>
            </a:r>
            <a:br/>
            <a:r>
              <a:t>insurance systems, and databases—</a:t>
            </a:r>
            <a:br/>
            <a:r>
              <a:t>each a potential leak point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926080"/>
            <a:ext cx="3840480" cy="32004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Calibri"/>
              </a:defRPr>
            </a:pPr>
            <a:r>
              <a:t>Real Harm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38404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In many communities, a disclosed HIV</a:t>
            </a:r>
            <a:br/>
            <a:r>
              <a:t>diagnosis leads to discrimination,</a:t>
            </a:r>
            <a:br/>
            <a:r>
              <a:t>job loss, and social exclusion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377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 pharmacy doesn't need to know</a:t>
            </a:r>
            <a:br/>
            <a:r>
              <a:t>why you need medication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3840480"/>
            <a:ext cx="1280160" cy="40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4389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"This person is authorized to receive medication X,</a:t>
            </a:r>
            <a:br/>
            <a:r>
              <a:t>verified by a trusted clinic."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9CAA"/>
                </a:solidFill>
                <a:latin typeface="Calibri"/>
              </a:defRPr>
            </a:pPr>
            <a:r>
              <a:t>No diagnosis. No identity. Just proof of eligibility.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NightRx: Zero-knowledge proof</a:t>
            </a:r>
            <a:br/>
            <a:r>
              <a:t>of medication eligibility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200400"/>
            <a:ext cx="3474720" cy="27432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3383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366F1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Clinic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Issues private credential</a:t>
            </a:r>
            <a:br/>
            <a:r>
              <a:t>after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9C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3200400"/>
            <a:ext cx="3474720" cy="27432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3383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366F1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Patient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Generates ZK proof</a:t>
            </a:r>
            <a:br/>
            <a:r>
              <a:t>locally on their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9C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3200400"/>
            <a:ext cx="3474720" cy="27432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3383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366F1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Pharmacy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Verifies proof on-chain</a:t>
            </a:r>
            <a:br/>
            <a:r>
              <a:t>Never sees diagnosis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400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The diagnosis NEVER leaves the patient's device. The pharmacist sees only: VERIFIED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WHY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Built for privacy-first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26080"/>
            <a:ext cx="3840480" cy="27432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5B4FC"/>
                </a:solidFill>
                <a:latin typeface="Calibri"/>
              </a:defRPr>
            </a:pPr>
            <a:r>
              <a:t>ZK Proofs (Halo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Prove statements without revealing data.</a:t>
            </a:r>
            <a:br/>
            <a:r>
              <a:t>Sub-second verification, no trusted 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926080"/>
            <a:ext cx="3840480" cy="27432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5B4FC"/>
                </a:solidFill>
                <a:latin typeface="Calibri"/>
              </a:defRPr>
            </a:pPr>
            <a:r>
              <a:t>Selective Disclosure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931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Patients choose exactly what to share.</a:t>
            </a:r>
            <a:br/>
            <a:r>
              <a:t>Only the proof result is visible.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926080"/>
            <a:ext cx="3840480" cy="27432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5B4FC"/>
                </a:solidFill>
                <a:latin typeface="Calibri"/>
              </a:defRPr>
            </a:pPr>
            <a:r>
              <a:t>Compact 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3931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TypeScript-like smart contracts with</a:t>
            </a:r>
            <a:br/>
            <a:r>
              <a:t>built-in privacy primitives and witnesses.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4008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This system cannot be built on Ethereum, Solana, or any transparent chain. Midnight's privacy model is essential.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SMART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Three circuits, real ZK proofs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743200"/>
            <a:ext cx="11887200" cy="1371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880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5B4FC"/>
                </a:solidFill>
                <a:latin typeface="Consolas"/>
              </a:defRPr>
            </a:pPr>
            <a:r>
              <a:t>registerIssuer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8803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Clinic registers as trusted credential issuer.</a:t>
            </a:r>
            <a:br/>
            <a:r>
              <a:t>Proves identity via private key witness.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389120"/>
            <a:ext cx="11887200" cy="1371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526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onsolas"/>
              </a:defRPr>
            </a:pPr>
            <a:r>
              <a:t>issueCredential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45262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Stores credential commitment on-chain.</a:t>
            </a:r>
            <a:br/>
            <a:r>
              <a:t>Only the hash is public — no medical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6035040"/>
            <a:ext cx="11887200" cy="13716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6172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onsolas"/>
              </a:defRPr>
            </a:pPr>
            <a:r>
              <a:t>verifyPickup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61722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9CAA"/>
                </a:solidFill>
                <a:latin typeface="Calibri"/>
              </a:defRPr>
            </a:pPr>
            <a:r>
              <a:t>Patient proves eligibility via ZK proof.</a:t>
            </a:r>
            <a:br/>
            <a:r>
              <a:t>Checks commitment exists, nullifier unused.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7315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A"/>
                </a:solidFill>
                <a:latin typeface="Consolas"/>
              </a:defRPr>
            </a:pPr>
            <a:r>
              <a:t>Deployed on Preprod:  05d3e290...df98ea5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7315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0B981"/>
                </a:solidFill>
                <a:latin typeface="Calibri"/>
              </a:defRPr>
            </a:pPr>
            <a:r>
              <a:t>View: preprod.midnightexplorer.com/contracts/5741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PRIVACY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What stays private, what goes on-chain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743200"/>
            <a:ext cx="5486400" cy="41148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926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Calibri"/>
              </a:defRPr>
            </a:pPr>
            <a:r>
              <a:t>On-Chain (Public)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EE7B7"/>
                </a:solidFill>
                <a:latin typeface="Calibri"/>
              </a:defRPr>
            </a:pPr>
            <a:r>
              <a:t>✓  Credential commitment (hash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EE7B7"/>
                </a:solidFill>
                <a:latin typeface="Calibri"/>
              </a:defRPr>
            </a:pPr>
            <a:r>
              <a:t>✓  Nullifier (unlinkable hash)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EE7B7"/>
                </a:solidFill>
                <a:latin typeface="Calibri"/>
              </a:defRPr>
            </a:pPr>
            <a:r>
              <a:t>✓  Issuer registry (public keys)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577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EE7B7"/>
                </a:solidFill>
                <a:latin typeface="Calibri"/>
              </a:defRPr>
            </a:pPr>
            <a:r>
              <a:t>✓  Dispensation count (anonymous)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743200"/>
            <a:ext cx="5486400" cy="41148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926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Calibri"/>
              </a:defRPr>
            </a:pPr>
            <a:r>
              <a:t>Never On-Chain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CA5A5"/>
                </a:solidFill>
                <a:latin typeface="Calibri"/>
              </a:defRPr>
            </a:pPr>
            <a:r>
              <a:t>✗  Patient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CA5A5"/>
                </a:solidFill>
                <a:latin typeface="Calibri"/>
              </a:defRPr>
            </a:pPr>
            <a:r>
              <a:t>✗  Diagnosis or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CA5A5"/>
                </a:solidFill>
                <a:latin typeface="Calibri"/>
              </a:defRPr>
            </a:pPr>
            <a:r>
              <a:t>✗  Full credential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5577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CA5A5"/>
                </a:solidFill>
                <a:latin typeface="Calibri"/>
              </a:defRPr>
            </a:pPr>
            <a:r>
              <a:t>✗  Which medication is for which condition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5B4FC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Let's see it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114800"/>
            <a:ext cx="2834640" cy="1645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366F1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9377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9CAA"/>
                </a:solidFill>
                <a:latin typeface="Calibri"/>
              </a:defRPr>
            </a:pPr>
            <a:r>
              <a:t>Register Issuer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4663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C9C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114800"/>
            <a:ext cx="2834640" cy="1645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366F1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9377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9CAA"/>
                </a:solidFill>
                <a:latin typeface="Calibri"/>
              </a:defRPr>
            </a:pPr>
            <a:r>
              <a:t>Issue Credential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663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C9C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114800"/>
            <a:ext cx="2834640" cy="1645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366F1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49377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9CAA"/>
                </a:solidFill>
                <a:latin typeface="Calibri"/>
              </a:defRPr>
            </a:pPr>
            <a:r>
              <a:t>Import + 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59" y="4663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C9C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247120" y="4114800"/>
            <a:ext cx="2834640" cy="1645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0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366F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49377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9CAA"/>
                </a:solidFill>
                <a:latin typeface="Calibri"/>
              </a:defRPr>
            </a:pPr>
            <a:r>
              <a:t>Verify + Dispense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400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9CAA"/>
                </a:solidFill>
                <a:latin typeface="Calibri"/>
              </a:defRPr>
            </a:pPr>
            <a:r>
              <a:t>Each step generates a real ZK proof verified on Midnight Preprod testnet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Built to ship, not to impress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5943600" cy="41148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Blockchain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5B4FC"/>
                </a:solidFill>
                <a:latin typeface="Calibri"/>
              </a:defRPr>
            </a:pPr>
            <a:r>
              <a:t>Compact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Smart contract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5B4FC"/>
                </a:solidFill>
                <a:latin typeface="Calibri"/>
              </a:defRPr>
            </a:pPr>
            <a:r>
              <a:t>Halo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ZK proof system (BLS12-381)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5B4FC"/>
                </a:solidFill>
                <a:latin typeface="Calibri"/>
              </a:defRPr>
            </a:pPr>
            <a:r>
              <a:t>Midnight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937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Contract deployment + circuit calls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577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5B4FC"/>
                </a:solidFill>
                <a:latin typeface="Calibri"/>
              </a:defRPr>
            </a:pPr>
            <a:r>
              <a:t>Preprod Testnet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577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Deployed and verified on-chain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743200"/>
            <a:ext cx="5943600" cy="41148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React + Vite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Frontend with Tailwind CSS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Framer Motion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Animations and transitions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Node.js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937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SDK bridge for wallet + proofs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577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QR Codes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5577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A"/>
                </a:solidFill>
                <a:latin typeface="Calibri"/>
              </a:defRPr>
            </a:pPr>
            <a:r>
              <a:t>Credential and proof transfer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REAL-WORLD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Beyond HIV — any sensitive medication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3840480" cy="201168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Mental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Antidepressants, antipsychotics</a:t>
            </a:r>
            <a:br/>
            <a:r>
              <a:t>without workplace stigma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743200"/>
            <a:ext cx="3840480" cy="201168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Addiction Recovery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47472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Methadone, naloxone</a:t>
            </a:r>
            <a:br/>
            <a:r>
              <a:t>without the label following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743200"/>
            <a:ext cx="3840480" cy="201168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Reproductive 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347472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Contraception, fertility treatments</a:t>
            </a:r>
            <a:br/>
            <a:r>
              <a:t>without moral judgment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A5B4FC"/>
                </a:solidFill>
                <a:latin typeface="Calibri"/>
              </a:defRPr>
            </a:pPr>
            <a:r>
              <a:t>38M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309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9CAA"/>
                </a:solidFill>
                <a:latin typeface="Calibri"/>
              </a:defRPr>
            </a:pPr>
            <a:r>
              <a:t>People living with HIV globally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A5B4FC"/>
                </a:solidFill>
                <a:latin typeface="Calibri"/>
              </a:defRPr>
            </a:pPr>
            <a:r>
              <a:t>1 in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6309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9CAA"/>
                </a:solidFill>
                <a:latin typeface="Calibri"/>
              </a:defRPr>
            </a:pPr>
            <a:r>
              <a:t>US adults experience mental illness yearly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A5B4FC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309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9CAA"/>
                </a:solidFill>
                <a:latin typeface="Calibri"/>
              </a:defRPr>
            </a:pPr>
            <a:r>
              <a:t>Avoid treatment due to stigma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5B4FC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From prototype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Multi-refill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743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Separate nullifiers per refill, track usage without linking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204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Credential revocation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520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Clinics can invalidate credentials if prescription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297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297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Emergency disclosure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Patient-controlled reveal for hospital emergencies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074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Anonymous health 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074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Aggregated dispensation data without individual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852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852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Mobile wallet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852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React Native app with Midnight Mobile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6629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6629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Cross-institution sharing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6629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9CAA"/>
                </a:solidFill>
                <a:latin typeface="Calibri"/>
              </a:defRPr>
            </a:pPr>
            <a:r>
              <a:t>Credential portability between healthcare systems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0" y="1097280"/>
            <a:ext cx="731520" cy="7315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0" y="114300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Prove eligibility,</a:t>
            </a:r>
            <a:br/>
            <a:r>
              <a:t>not your condition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0" y="3931920"/>
            <a:ext cx="1280160" cy="40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9CAA"/>
                </a:solidFill>
                <a:latin typeface="Calibri"/>
              </a:defRPr>
            </a:pPr>
            <a:r>
              <a:t>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5B4FC"/>
                </a:solidFill>
                <a:latin typeface="Consolas"/>
              </a:defRPr>
            </a:pPr>
            <a:r>
              <a:t>05d3e290...f98ea5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9CAA"/>
                </a:solidFill>
                <a:latin typeface="Calibri"/>
              </a:defRPr>
            </a:pPr>
            <a:r>
              <a:t>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5B4FC"/>
                </a:solidFill>
                <a:latin typeface="Consolas"/>
              </a:defRPr>
            </a:pPr>
            <a:r>
              <a:t>midnightexplorer.com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C9CA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5B4FC"/>
                </a:solidFill>
                <a:latin typeface="Consolas"/>
              </a:defRPr>
            </a:pPr>
            <a:r>
              <a:t>0xNoramiya/nightrx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858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9CAA"/>
                </a:solidFill>
                <a:latin typeface="Calibri"/>
              </a:defRPr>
            </a:pPr>
            <a:r>
              <a:t>Built with Midnight Network  |  Healthcare Track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