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810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0" y="0"/>
            <a:ext cx="5486400" cy="8229600"/>
          </a:xfrm>
          <a:prstGeom prst="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92240" y="1645920"/>
            <a:ext cx="822960" cy="8229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92240" y="16916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NightRx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4114800"/>
            <a:ext cx="109728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4389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B8B9E"/>
                </a:solidFill>
                <a:latin typeface="Calibri"/>
              </a:defRPr>
            </a:pPr>
            <a:r>
              <a:t>Prove medication eligibility without revealing your diagnosis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5943600"/>
            <a:ext cx="2377440" cy="411480"/>
          </a:xfrm>
          <a:prstGeom prst="round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596188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5B4FC"/>
                </a:solidFill>
                <a:latin typeface="Calibri"/>
              </a:defRPr>
            </a:pPr>
            <a:r>
              <a:t>Midnight Hackathon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5943600"/>
            <a:ext cx="2011680" cy="411480"/>
          </a:xfrm>
          <a:prstGeom prst="round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79" y="5961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EE7B7"/>
                </a:solidFill>
                <a:latin typeface="Calibri"/>
              </a:defRPr>
            </a:pPr>
            <a:r>
              <a:t>Healthcare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914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5B4F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11887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38 million people with HIV.</a:t>
            </a:r>
            <a:br/>
            <a:r>
              <a:t>60% avoid treatment due to stigma.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B8B9E"/>
                </a:solidFill>
                <a:latin typeface="Calibri"/>
              </a:defRPr>
            </a:pPr>
            <a:r>
              <a:t>Because getting medication means revealing your most private health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389120"/>
            <a:ext cx="3566160" cy="2286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37360" y="46634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A5B4FC"/>
                </a:solidFill>
                <a:latin typeface="Calibri"/>
              </a:defRPr>
            </a:pPr>
            <a:r>
              <a:t>38M+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5394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People living with HIV globally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4389120"/>
            <a:ext cx="3566160" cy="2286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720" y="46634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CA5A5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5394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Avoid treatment due to stigma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4389120"/>
            <a:ext cx="3566160" cy="2286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84080" y="46634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59E0B"/>
                </a:solidFill>
                <a:latin typeface="Calibri"/>
              </a:defRPr>
            </a:pPr>
            <a:r>
              <a:t>1 in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5394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US adults with mental illness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0" y="2286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 pharmacy doesn't need to know</a:t>
            </a:r>
            <a:br/>
            <a:r>
              <a:t>why you need medication.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0" y="4389120"/>
            <a:ext cx="109728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0" y="4846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B8B9E"/>
                </a:solidFill>
                <a:latin typeface="Calibri"/>
              </a:defRPr>
            </a:pPr>
            <a:r>
              <a:t>They only need to verify:</a:t>
            </a:r>
            <a:br/>
            <a:r>
              <a:t>"This person is authorized to receive medication X,</a:t>
            </a:r>
            <a:br/>
            <a:r>
              <a:t>confirmed by a trusted clinic."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5B4FC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11887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Three steps. Zero diagnosis exposure.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3931920" cy="4572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A5B4FC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Clinic Issues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114800"/>
            <a:ext cx="1371600" cy="2286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43891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After diagnosis, the clinic</a:t>
            </a:r>
            <a:br/>
            <a:r>
              <a:t>issues a private credential.</a:t>
            </a:r>
            <a:br/>
            <a:r>
              <a:t>Commitment stored on-chain.</a:t>
            </a:r>
            <a:br/>
            <a:r>
              <a:t>No medical data exposed.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4389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5A5A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2560320"/>
            <a:ext cx="3931920" cy="4572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16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EE7B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Patient Proves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4114800"/>
            <a:ext cx="1371600" cy="2286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0" y="43891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Patient generates a ZK proof</a:t>
            </a:r>
            <a:br/>
            <a:r>
              <a:t>on their own device.</a:t>
            </a:r>
            <a:br/>
            <a:r>
              <a:t>Proof says: "I'm eligible."</a:t>
            </a:r>
            <a:br/>
            <a:r>
              <a:t>Diagnosis never leaves.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4389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5A5A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19" y="2560320"/>
            <a:ext cx="3931920" cy="4572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412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9E0B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Pharmacy Verifies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0" y="4114800"/>
            <a:ext cx="1371600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41280" y="43891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Pharmacy submits proof to</a:t>
            </a:r>
            <a:br/>
            <a:r>
              <a:t>Midnight. Contract verifies:</a:t>
            </a:r>
            <a:br/>
            <a:r>
              <a:t>issuer trusted, nullifier fresh.</a:t>
            </a:r>
            <a:br/>
            <a:r>
              <a:t>Medication dispensed.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5B4FC"/>
                </a:solidFill>
                <a:latin typeface="Calibri"/>
              </a:defRPr>
            </a:pPr>
            <a:r>
              <a:t>THE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Clinic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Register as a trusted issuer, issue private</a:t>
            </a:r>
            <a:br/>
            <a:r>
              <a:t>medication credentials with QR codes.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One-click issuer registration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Medication type selector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QR code credential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On-chain TX confirmation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914400"/>
            <a:ext cx="6858000" cy="6400800"/>
          </a:xfrm>
          <a:prstGeom prst="roundRect">
            <a:avLst/>
          </a:prstGeom>
          <a:solidFill>
            <a:srgbClr val="0E0E1A"/>
          </a:solidFill>
          <a:ln w="19050">
            <a:solidFill>
              <a:srgbClr val="3A3A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A9FFF0-371C-B274-D019-9741CC608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60514"/>
            <a:ext cx="6818692" cy="47724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5B4FC"/>
                </a:solidFill>
                <a:latin typeface="Calibri"/>
              </a:defRPr>
            </a:pPr>
            <a:r>
              <a:t>THE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Patient Wallet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Import credentials, generate zero-knowledge</a:t>
            </a:r>
            <a:br/>
            <a:r>
              <a:t>proofs privately on your device.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Import via QR or JSON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Credential status 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Local ZK proof generation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914400"/>
            <a:ext cx="6858000" cy="6400800"/>
          </a:xfrm>
          <a:prstGeom prst="roundRect">
            <a:avLst/>
          </a:prstGeom>
          <a:solidFill>
            <a:srgbClr val="0E0E1A"/>
          </a:solidFill>
          <a:ln w="19050">
            <a:solidFill>
              <a:srgbClr val="3A3A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38862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5A70"/>
                </a:solidFill>
                <a:latin typeface="Calibri"/>
              </a:defRPr>
            </a:pPr>
            <a:r>
              <a:t>[Patient Wallet Screenshot]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F1C8DAE-2FF5-9BEA-ACDE-1B2ADBD7D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9" y="1997901"/>
            <a:ext cx="6858001" cy="44631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5B4FC"/>
                </a:solidFill>
                <a:latin typeface="Calibri"/>
              </a:defRPr>
            </a:pPr>
            <a:r>
              <a:t>THE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Pharmacy 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Verify patient eligibility on-chain.</a:t>
            </a:r>
            <a:br/>
            <a:r>
              <a:t>Never see diagnosis or identity.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Paste proof or scan QR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On-chain ZK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VERIFIED / REJECTED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EE7B7"/>
                </a:solidFill>
                <a:latin typeface="Calibri"/>
              </a:defRPr>
            </a:pPr>
            <a:r>
              <a:t>✓  TX hash with explorer link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914400"/>
            <a:ext cx="6858000" cy="6400800"/>
          </a:xfrm>
          <a:prstGeom prst="roundRect">
            <a:avLst/>
          </a:prstGeom>
          <a:solidFill>
            <a:srgbClr val="0E0E1A"/>
          </a:solidFill>
          <a:ln w="19050">
            <a:solidFill>
              <a:srgbClr val="3A3A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38862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5A70"/>
                </a:solidFill>
                <a:latin typeface="Calibri"/>
              </a:defRPr>
            </a:pPr>
            <a:r>
              <a:t>[Pharmacy Verifier Screenshot]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754D1E-DB93-CDF2-DF3E-E95CD95D8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622" y="1511766"/>
            <a:ext cx="6908378" cy="51644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5B4FC"/>
                </a:solidFill>
                <a:latin typeface="Calibri"/>
              </a:defRPr>
            </a:pPr>
            <a:r>
              <a:t>WHY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11887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This cannot be built on a transparent chain.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011680"/>
            <a:ext cx="11887200" cy="146304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54864" cy="146304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5B4FC"/>
                </a:solidFill>
                <a:latin typeface="Calibri"/>
              </a:defRPr>
            </a:pPr>
            <a:r>
              <a:t>Zero-Knowledge Proofs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651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Halo 2 proof system. Prove statements without</a:t>
            </a:r>
            <a:br/>
            <a:r>
              <a:t>revealing underlying data. No trusted setup.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749039"/>
            <a:ext cx="11887200" cy="146304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371600" y="3749039"/>
            <a:ext cx="54864" cy="146304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39319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EE7B7"/>
                </a:solidFill>
                <a:latin typeface="Calibri"/>
              </a:defRPr>
            </a:pPr>
            <a:r>
              <a:t>Selective Disclosure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389119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Patients control exactly what is shared.</a:t>
            </a:r>
            <a:br/>
            <a:r>
              <a:t>Only proof validity is visible — never medical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5486400"/>
            <a:ext cx="11887200" cy="146304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371600" y="5486400"/>
            <a:ext cx="54864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Compact Smart Contracts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6126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TypeScript-like language with built-in privacy.</a:t>
            </a:r>
            <a:br/>
            <a:r>
              <a:t>Witness functions keep secrets off-chain.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949439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70"/>
                </a:solidFill>
                <a:latin typeface="Calibri"/>
              </a:defRPr>
            </a:pPr>
            <a:r>
              <a:t>Ethereum, Solana, and other transparent chains expose all transaction data by design. Midnight doesn't.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5B4FC"/>
                </a:solidFill>
                <a:latin typeface="Calibri"/>
              </a:defRPr>
            </a:pPr>
            <a:r>
              <a:t>ON-CHAIN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11887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Three circuits. Real ZK proofs.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194559"/>
            <a:ext cx="11887200" cy="128016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233171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5B4FC"/>
                </a:solidFill>
                <a:latin typeface="Consolas"/>
              </a:defRPr>
            </a:pPr>
            <a:r>
              <a:t>registerIssuer()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331718"/>
            <a:ext cx="6858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Clinic proves identity via private key witness.</a:t>
            </a:r>
            <a:br/>
            <a:r>
              <a:t>Registered in on-chain issuer map.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749039"/>
            <a:ext cx="11887200" cy="128016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0" y="38861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EE7B7"/>
                </a:solidFill>
                <a:latin typeface="Consolas"/>
              </a:defRPr>
            </a:pPr>
            <a:r>
              <a:t>issueCredential()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886199"/>
            <a:ext cx="6858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Stores hash commitment on-chain. Full credential</a:t>
            </a:r>
            <a:br/>
            <a:r>
              <a:t>details stay private. Only the hash is public.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18"/>
            <a:ext cx="11887200" cy="128016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28800" y="544067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onsolas"/>
              </a:defRPr>
            </a:pPr>
            <a:r>
              <a:t>verifyPickup()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5440679"/>
            <a:ext cx="6858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8B9E"/>
                </a:solidFill>
                <a:latin typeface="Calibri"/>
              </a:defRPr>
            </a:pPr>
            <a:r>
              <a:t>Patient proves eligibility. Contract checks:</a:t>
            </a:r>
            <a:br/>
            <a:r>
              <a:t>commitment exists + nullifier unused = VERIFIED.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6583679"/>
            <a:ext cx="11887200" cy="731520"/>
          </a:xfrm>
          <a:prstGeom prst="round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28800" y="667511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A5A70"/>
                </a:solidFill>
                <a:latin typeface="Calibri"/>
              </a:defRPr>
            </a:pPr>
            <a:r>
              <a:t>CONTRACT ADDRESS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694943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5B4FC"/>
                </a:solidFill>
                <a:latin typeface="Consolas"/>
              </a:defRPr>
            </a:pPr>
            <a:r>
              <a:t>05d3e2900cf0a09f73dca91225f1594928d7dbcfcfa22bbcc4990ffcddf98ea5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67208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0B981"/>
                </a:solidFill>
                <a:latin typeface="Calibri"/>
              </a:defRPr>
            </a:pPr>
            <a:r>
              <a:t>preprod.midnightexplorer.com</a:t>
            </a:r>
            <a:br/>
            <a:r>
              <a:t>/contracts/5741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0" y="731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5B4FC"/>
                </a:solidFill>
                <a:latin typeface="Calibri"/>
              </a:defRPr>
            </a:pPr>
            <a:r>
              <a:t>PRIVACY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188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What the pharmacy never sees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560320"/>
            <a:ext cx="5760720" cy="475488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2560320"/>
            <a:ext cx="5760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EE7B7"/>
                </a:solidFill>
                <a:latin typeface="Calibri"/>
              </a:defRPr>
            </a:pPr>
            <a:r>
              <a:t>On-Chain (Public Ledger)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Credential commitment (hash only)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4297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Nullifier (unlinkable hash)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Registered issuer public keys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5760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Anonymous dispensation counter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2560320"/>
            <a:ext cx="5760720" cy="475488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98079" y="2560320"/>
            <a:ext cx="57607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55279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CA5A5"/>
                </a:solidFill>
                <a:latin typeface="Calibri"/>
              </a:defRPr>
            </a:pPr>
            <a:r>
              <a:t>Never On-Chain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F4444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Patient identity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F4444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297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Diagnosis or medical condition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F4444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Full credential details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F4444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5760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8B9E"/>
                </a:solidFill>
                <a:latin typeface="Calibri"/>
              </a:defRPr>
            </a:pPr>
            <a:r>
              <a:t>Medication-to-condition mapping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0" y="3108960"/>
            <a:ext cx="109728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B8B9E"/>
                </a:solidFill>
                <a:latin typeface="Calibri"/>
              </a:defRPr>
            </a:pPr>
            <a:r>
              <a:t>Real ZK proofs. Real blockchain transactions. Real privacy.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4754880"/>
            <a:ext cx="2560320" cy="201168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5B4FC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486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8B9E"/>
                </a:solidFill>
                <a:latin typeface="Calibri"/>
              </a:defRPr>
            </a:pPr>
            <a:r>
              <a:t>Register</a:t>
            </a:r>
            <a:br/>
            <a:r>
              <a:t>Issuer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5A5A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4754880"/>
            <a:ext cx="2560320" cy="201168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5B4F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5486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8B9E"/>
                </a:solidFill>
                <a:latin typeface="Calibri"/>
              </a:defRPr>
            </a:pPr>
            <a:r>
              <a:t>Issue</a:t>
            </a:r>
            <a:br/>
            <a:r>
              <a:t>Credential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5A5A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754880"/>
            <a:ext cx="2560320" cy="201168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5B4FC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5486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8B9E"/>
                </a:solidFill>
                <a:latin typeface="Calibri"/>
              </a:defRPr>
            </a:pPr>
            <a:r>
              <a:t>Import +</a:t>
            </a:r>
            <a:br/>
            <a:r>
              <a:t>Generate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5A5A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47120" y="4754880"/>
            <a:ext cx="2560320" cy="201168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24712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5B4F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5486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8B9E"/>
                </a:solidFill>
                <a:latin typeface="Calibri"/>
              </a:defRPr>
            </a:pPr>
            <a:r>
              <a:t>Verify +</a:t>
            </a:r>
            <a:br/>
            <a:r>
              <a:t>Dispense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7315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70"/>
                </a:solidFill>
                <a:latin typeface="Calibri"/>
              </a:defRPr>
            </a:pPr>
            <a:r>
              <a:t>Each transaction verified on Midnight Preprod  •  TX hashes visible in explorer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5B4FC"/>
                </a:solidFill>
                <a:latin typeface="Calibri"/>
              </a:defRPr>
            </a:pPr>
            <a:r>
              <a:t>REAL-WORLD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11887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Beyond HIV — any sensitive medication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2926080" cy="2286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Mental Health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246120"/>
            <a:ext cx="914400" cy="228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8B9E"/>
                </a:solidFill>
                <a:latin typeface="Calibri"/>
              </a:defRPr>
            </a:pPr>
            <a:r>
              <a:t>Antidepressants, antipsychotics—</a:t>
            </a:r>
            <a:br/>
            <a:r>
              <a:t>without workplace or insurance stigma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560320"/>
            <a:ext cx="2926080" cy="2286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2743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Addiction Recovery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246120"/>
            <a:ext cx="914400" cy="228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34747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8B9E"/>
                </a:solidFill>
                <a:latin typeface="Calibri"/>
              </a:defRPr>
            </a:pPr>
            <a:r>
              <a:t>Methadone, naloxone—</a:t>
            </a:r>
            <a:br/>
            <a:r>
              <a:t>without the label of "addict"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560320"/>
            <a:ext cx="2926080" cy="2286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0" y="2743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Reproductive Health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3246120"/>
            <a:ext cx="914400" cy="228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0" y="34747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8B9E"/>
                </a:solidFill>
                <a:latin typeface="Calibri"/>
              </a:defRPr>
            </a:pPr>
            <a:r>
              <a:t>Contraception, fertility treatment—</a:t>
            </a:r>
            <a:br/>
            <a:r>
              <a:t>without moral judgment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0" y="2560320"/>
            <a:ext cx="2926080" cy="228600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247120" y="2743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STI Treatment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0" y="3246120"/>
            <a:ext cx="914400" cy="228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247120" y="34747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8B9E"/>
                </a:solidFill>
                <a:latin typeface="Calibri"/>
              </a:defRPr>
            </a:pPr>
            <a:r>
              <a:t>Antibiotics, antivirals—</a:t>
            </a:r>
            <a:br/>
            <a:r>
              <a:t>without social consequences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5486400"/>
            <a:ext cx="11887200" cy="1828800"/>
          </a:xfrm>
          <a:prstGeom prst="round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288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"Privacy in healthcare isn't a feature — it's a fundamental right.</a:t>
            </a:r>
            <a:br/>
            <a:r>
              <a:t>NightRx makes it cryptographically guaranteed."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6675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5A70"/>
                </a:solidFill>
                <a:latin typeface="Calibri"/>
              </a:defRPr>
            </a:pPr>
            <a:r>
              <a:t>Designed for dignity, consent, and access to care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5B4FC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11887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From prototype to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560320"/>
            <a:ext cx="5760720" cy="118872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26974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Multi-Refill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B9E"/>
                </a:solidFill>
                <a:latin typeface="Calibri"/>
              </a:defRPr>
            </a:pPr>
            <a:r>
              <a:t>Separate nullifiers per refill 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023360"/>
            <a:ext cx="5760720" cy="118872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Credential Revocation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B9E"/>
                </a:solidFill>
                <a:latin typeface="Calibri"/>
              </a:defRPr>
            </a:pPr>
            <a:r>
              <a:t>Clinics invalidate changed prescriptions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486400"/>
            <a:ext cx="5760720" cy="118872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28800" y="5623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Emergency Disclosure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6035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B9E"/>
                </a:solidFill>
                <a:latin typeface="Calibri"/>
              </a:defRPr>
            </a:pPr>
            <a:r>
              <a:t>Patient-controlled reveal for emergencies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2560320"/>
            <a:ext cx="5760720" cy="118872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26974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Anonymous Health Stats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B9E"/>
                </a:solidFill>
                <a:latin typeface="Calibri"/>
              </a:defRPr>
            </a:pPr>
            <a:r>
              <a:t>Aggregated data without individual tracking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4023360"/>
            <a:ext cx="5760720" cy="118872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55279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Mobile Wallet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B9E"/>
                </a:solidFill>
                <a:latin typeface="Calibri"/>
              </a:defRPr>
            </a:pPr>
            <a:r>
              <a:t>React Native + Midnight Mobile SDK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5486400"/>
            <a:ext cx="5760720" cy="118872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79" y="5623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Cross-Institution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035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8B9E"/>
                </a:solidFill>
                <a:latin typeface="Calibri"/>
              </a:defRPr>
            </a:pPr>
            <a:r>
              <a:t>Credential portability between systems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731520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70"/>
                </a:solidFill>
                <a:latin typeface="Calibri"/>
              </a:defRPr>
            </a:pPr>
            <a:r>
              <a:t>All future features leverage Midnight's native privacy model — no additional ZK infrastructure needed.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92240" y="1371600"/>
            <a:ext cx="822960" cy="8229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92240" y="14173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Prove eligibility.</a:t>
            </a:r>
            <a:br/>
            <a:r>
              <a:t>Not your condition.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4206240"/>
            <a:ext cx="109728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286000" y="5029200"/>
            <a:ext cx="3200400" cy="118872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0" y="5120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5A70"/>
                </a:solidFill>
                <a:latin typeface="Calibri"/>
              </a:defRPr>
            </a:pPr>
            <a:r>
              <a:t>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440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5B4FC"/>
                </a:solidFill>
                <a:latin typeface="Consolas"/>
              </a:defRPr>
            </a:pPr>
            <a:r>
              <a:t>05d3e290...df98ea5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806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A5A70"/>
                </a:solidFill>
                <a:latin typeface="Calibri"/>
              </a:defRPr>
            </a:pPr>
            <a:r>
              <a:t>Midnight Preprod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5029200"/>
            <a:ext cx="3200400" cy="118872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720" y="5120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5A70"/>
                </a:solidFill>
                <a:latin typeface="Calibri"/>
              </a:defRPr>
            </a:pPr>
            <a:r>
              <a:t>EXPLORER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5440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0B981"/>
                </a:solidFill>
                <a:latin typeface="Calibri"/>
              </a:defRPr>
            </a:pPr>
            <a:r>
              <a:t>midnightexplorer.com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5806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A5A70"/>
                </a:solidFill>
                <a:latin typeface="Calibri"/>
              </a:defRPr>
            </a:pPr>
            <a:r>
              <a:t>/contracts/5741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5029200"/>
            <a:ext cx="3200400" cy="1188720"/>
          </a:xfrm>
          <a:prstGeom prst="roundRect">
            <a:avLst/>
          </a:prstGeom>
          <a:solidFill>
            <a:srgbClr val="13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0" y="5120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5A70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440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5B4FC"/>
                </a:solidFill>
                <a:latin typeface="Calibri"/>
              </a:defRPr>
            </a:pPr>
            <a:r>
              <a:t>0xNoramiya/nightrx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5806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A5A70"/>
                </a:solidFill>
                <a:latin typeface="Calibri"/>
              </a:defRPr>
            </a:pPr>
            <a:r>
              <a:t>Open Source • MIT License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7132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5A70"/>
                </a:solidFill>
                <a:latin typeface="Calibri"/>
              </a:defRPr>
            </a:pPr>
            <a:r>
              <a:t>Built with Midnight Network  |  Healthcare Track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746</Words>
  <Application>Microsoft Office PowerPoint</Application>
  <PresentationFormat>Custom</PresentationFormat>
  <Paragraphs>144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Rifqi Haikal</cp:lastModifiedBy>
  <cp:revision>2</cp:revision>
  <dcterms:created xsi:type="dcterms:W3CDTF">2013-01-27T09:14:16Z</dcterms:created>
  <dcterms:modified xsi:type="dcterms:W3CDTF">2026-04-03T22:49:27Z</dcterms:modified>
  <cp:category/>
</cp:coreProperties>
</file>